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5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3422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Graph Geometry Help Forecasting S&amp;P 100 Stocks?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93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graph structure did not outperform simpler baselines in noisy weekly stock movement prediction.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0" y="3200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Deep Learning · Oral Defense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28600" y="1143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146304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228600" y="1463040"/>
            <a:ext cx="6400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527048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149961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31520" y="17190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OHLCV, 2021-2025</a:t>
            </a:r>
            <a:endParaRPr lang="en-US" sz="9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2011680"/>
            <a:ext cx="201168" cy="20116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28600" y="224028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0"/>
          <p:cNvSpPr/>
          <p:nvPr/>
        </p:nvSpPr>
        <p:spPr>
          <a:xfrm>
            <a:off x="228600" y="2240280"/>
            <a:ext cx="64008" cy="548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230428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31520" y="22768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&amp; Labels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731520" y="249631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technicals, weekly returns</a:t>
            </a:r>
            <a:endParaRPr lang="en-US" sz="9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2788920"/>
            <a:ext cx="201168" cy="201168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28600" y="301752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4"/>
          <p:cNvSpPr/>
          <p:nvPr/>
        </p:nvSpPr>
        <p:spPr>
          <a:xfrm>
            <a:off x="228600" y="3017520"/>
            <a:ext cx="64008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3081528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31520" y="305409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731520" y="327355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· LSTM · Corr-GNN · JS-GNN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228600" y="36576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Neural Network variants: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228600" y="3904488"/>
            <a:ext cx="3017520" cy="457200"/>
          </a:xfrm>
          <a:prstGeom prst="rect">
            <a:avLst/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19"/>
          <p:cNvSpPr/>
          <p:nvPr/>
        </p:nvSpPr>
        <p:spPr>
          <a:xfrm>
            <a:off x="228600" y="3904488"/>
            <a:ext cx="64008" cy="4572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3995928"/>
            <a:ext cx="228600" cy="2286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31520" y="39410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Corr-GNN</a:t>
            </a:r>
            <a:endParaRPr lang="en-US" sz="1000" dirty="0"/>
          </a:p>
        </p:txBody>
      </p:sp>
      <p:sp>
        <p:nvSpPr>
          <p:cNvPr id="29" name="Text 21"/>
          <p:cNvSpPr/>
          <p:nvPr/>
        </p:nvSpPr>
        <p:spPr>
          <a:xfrm>
            <a:off x="731520" y="413308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Pearson return neighbors</a:t>
            </a:r>
            <a:endParaRPr lang="en-US" sz="850" dirty="0"/>
          </a:p>
        </p:txBody>
      </p:sp>
      <p:sp>
        <p:nvSpPr>
          <p:cNvPr id="30" name="Shape 22"/>
          <p:cNvSpPr/>
          <p:nvPr/>
        </p:nvSpPr>
        <p:spPr>
          <a:xfrm>
            <a:off x="228600" y="4407408"/>
            <a:ext cx="3017520" cy="457200"/>
          </a:xfrm>
          <a:prstGeom prst="rect">
            <a:avLst/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3"/>
          <p:cNvSpPr/>
          <p:nvPr/>
        </p:nvSpPr>
        <p:spPr>
          <a:xfrm>
            <a:off x="228600" y="4407408"/>
            <a:ext cx="64008" cy="4572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048" y="4498848"/>
            <a:ext cx="228600" cy="22860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731520" y="444398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JS-GNN</a:t>
            </a:r>
            <a:endParaRPr lang="en-US" sz="1000" dirty="0"/>
          </a:p>
        </p:txBody>
      </p:sp>
      <p:sp>
        <p:nvSpPr>
          <p:cNvPr id="34" name="Text 25"/>
          <p:cNvSpPr/>
          <p:nvPr/>
        </p:nvSpPr>
        <p:spPr>
          <a:xfrm>
            <a:off x="731520" y="463600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Jensen-Shannon neighbors</a:t>
            </a:r>
            <a:endParaRPr lang="en-US" sz="850" dirty="0"/>
          </a:p>
        </p:txBody>
      </p:sp>
      <p:sp>
        <p:nvSpPr>
          <p:cNvPr id="35" name="Text 26"/>
          <p:cNvSpPr/>
          <p:nvPr/>
        </p:nvSpPr>
        <p:spPr>
          <a:xfrm>
            <a:off x="301752" y="495604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Sector edges on all graph variants</a:t>
            </a:r>
            <a:endParaRPr lang="en-US" sz="850" dirty="0"/>
          </a:p>
        </p:txBody>
      </p:sp>
      <p:sp>
        <p:nvSpPr>
          <p:cNvPr id="36" name="Shape 27"/>
          <p:cNvSpPr/>
          <p:nvPr/>
        </p:nvSpPr>
        <p:spPr>
          <a:xfrm>
            <a:off x="228600" y="5202936"/>
            <a:ext cx="3017520" cy="237744"/>
          </a:xfrm>
          <a:prstGeom prst="rect">
            <a:avLst/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28"/>
          <p:cNvSpPr/>
          <p:nvPr/>
        </p:nvSpPr>
        <p:spPr>
          <a:xfrm>
            <a:off x="292608" y="52212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Graphs built from train split only</a:t>
            </a:r>
            <a:endParaRPr lang="en-US" sz="850" dirty="0"/>
          </a:p>
        </p:txBody>
      </p:sp>
      <p:sp>
        <p:nvSpPr>
          <p:cNvPr id="38" name="Text 29"/>
          <p:cNvSpPr/>
          <p:nvPr/>
        </p:nvSpPr>
        <p:spPr>
          <a:xfrm>
            <a:off x="3474720" y="114300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800" dirty="0"/>
          </a:p>
        </p:txBody>
      </p:sp>
      <p:pic>
        <p:nvPicPr>
          <p:cNvPr id="39" name="Image 7" descr="/home/claude/model_comparison_cropp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7560" y="1389888"/>
            <a:ext cx="5760720" cy="2187085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3337560" y="3613549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macro-F1 and class-wise F1 across models</a:t>
            </a:r>
            <a:endParaRPr lang="en-US" sz="900" dirty="0"/>
          </a:p>
        </p:txBody>
      </p:sp>
      <p:pic>
        <p:nvPicPr>
          <p:cNvPr id="41" name="Image 8" descr="/home/claude/training_curves_cropp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37560" y="3869581"/>
            <a:ext cx="5760720" cy="2033217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3337560" y="5939375"/>
            <a:ext cx="5760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loss and validation macro-F1 over epochs</a:t>
            </a:r>
            <a:endParaRPr lang="en-US" sz="900" dirty="0"/>
          </a:p>
        </p:txBody>
      </p:sp>
      <p:sp>
        <p:nvSpPr>
          <p:cNvPr id="43" name="Text 32"/>
          <p:cNvSpPr/>
          <p:nvPr/>
        </p:nvSpPr>
        <p:spPr>
          <a:xfrm>
            <a:off x="9427464" y="2324245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TEST MACRO-F1</a:t>
            </a:r>
            <a:endParaRPr lang="en-US" sz="800" dirty="0"/>
          </a:p>
        </p:txBody>
      </p:sp>
      <p:sp>
        <p:nvSpPr>
          <p:cNvPr id="44" name="Shape 33"/>
          <p:cNvSpPr/>
          <p:nvPr/>
        </p:nvSpPr>
        <p:spPr>
          <a:xfrm>
            <a:off x="9427464" y="2644285"/>
            <a:ext cx="2560320" cy="45720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Shape 34"/>
          <p:cNvSpPr/>
          <p:nvPr/>
        </p:nvSpPr>
        <p:spPr>
          <a:xfrm>
            <a:off x="9427464" y="2644285"/>
            <a:ext cx="54864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Text 35"/>
          <p:cNvSpPr/>
          <p:nvPr/>
        </p:nvSpPr>
        <p:spPr>
          <a:xfrm>
            <a:off x="9546336" y="27174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47" name="Text 36"/>
          <p:cNvSpPr/>
          <p:nvPr/>
        </p:nvSpPr>
        <p:spPr>
          <a:xfrm>
            <a:off x="11073384" y="2717437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0.347</a:t>
            </a:r>
            <a:endParaRPr lang="en-US" sz="1300" dirty="0"/>
          </a:p>
        </p:txBody>
      </p:sp>
      <p:sp>
        <p:nvSpPr>
          <p:cNvPr id="48" name="Text 37"/>
          <p:cNvSpPr/>
          <p:nvPr/>
        </p:nvSpPr>
        <p:spPr>
          <a:xfrm>
            <a:off x="9546336" y="2900317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Best</a:t>
            </a:r>
            <a:endParaRPr lang="en-US" sz="800" dirty="0"/>
          </a:p>
        </p:txBody>
      </p:sp>
      <p:sp>
        <p:nvSpPr>
          <p:cNvPr id="49" name="Shape 38"/>
          <p:cNvSpPr/>
          <p:nvPr/>
        </p:nvSpPr>
        <p:spPr>
          <a:xfrm>
            <a:off x="9427464" y="3156349"/>
            <a:ext cx="2560320" cy="45720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0" name="Shape 39"/>
          <p:cNvSpPr/>
          <p:nvPr/>
        </p:nvSpPr>
        <p:spPr>
          <a:xfrm>
            <a:off x="9427464" y="3156349"/>
            <a:ext cx="54864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Text 40"/>
          <p:cNvSpPr/>
          <p:nvPr/>
        </p:nvSpPr>
        <p:spPr>
          <a:xfrm>
            <a:off x="9546336" y="322950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000" dirty="0"/>
          </a:p>
        </p:txBody>
      </p:sp>
      <p:sp>
        <p:nvSpPr>
          <p:cNvPr id="52" name="Text 41"/>
          <p:cNvSpPr/>
          <p:nvPr/>
        </p:nvSpPr>
        <p:spPr>
          <a:xfrm>
            <a:off x="11073384" y="3229501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0.341</a:t>
            </a:r>
            <a:endParaRPr lang="en-US" sz="1300" dirty="0"/>
          </a:p>
        </p:txBody>
      </p:sp>
      <p:sp>
        <p:nvSpPr>
          <p:cNvPr id="53" name="Text 42"/>
          <p:cNvSpPr/>
          <p:nvPr/>
        </p:nvSpPr>
        <p:spPr>
          <a:xfrm>
            <a:off x="9546336" y="3412381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Best</a:t>
            </a:r>
            <a:endParaRPr lang="en-US" sz="800" dirty="0"/>
          </a:p>
        </p:txBody>
      </p:sp>
      <p:sp>
        <p:nvSpPr>
          <p:cNvPr id="54" name="Shape 43"/>
          <p:cNvSpPr/>
          <p:nvPr/>
        </p:nvSpPr>
        <p:spPr>
          <a:xfrm>
            <a:off x="9427464" y="3668413"/>
            <a:ext cx="25603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5" name="Text 44"/>
          <p:cNvSpPr/>
          <p:nvPr/>
        </p:nvSpPr>
        <p:spPr>
          <a:xfrm>
            <a:off x="9546336" y="374156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GNN-Correlation</a:t>
            </a:r>
            <a:endParaRPr lang="en-US" sz="1000" dirty="0"/>
          </a:p>
        </p:txBody>
      </p:sp>
      <p:sp>
        <p:nvSpPr>
          <p:cNvPr id="56" name="Text 45"/>
          <p:cNvSpPr/>
          <p:nvPr/>
        </p:nvSpPr>
        <p:spPr>
          <a:xfrm>
            <a:off x="11073384" y="3741565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0.319</a:t>
            </a:r>
            <a:endParaRPr lang="en-US" sz="1300" dirty="0"/>
          </a:p>
        </p:txBody>
      </p:sp>
      <p:sp>
        <p:nvSpPr>
          <p:cNvPr id="57" name="Shape 46"/>
          <p:cNvSpPr/>
          <p:nvPr/>
        </p:nvSpPr>
        <p:spPr>
          <a:xfrm>
            <a:off x="9427464" y="4180477"/>
            <a:ext cx="25603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8" name="Text 47"/>
          <p:cNvSpPr/>
          <p:nvPr/>
        </p:nvSpPr>
        <p:spPr>
          <a:xfrm>
            <a:off x="9546336" y="425362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GNN-JS</a:t>
            </a:r>
            <a:endParaRPr lang="en-US" sz="1000" dirty="0"/>
          </a:p>
        </p:txBody>
      </p:sp>
      <p:sp>
        <p:nvSpPr>
          <p:cNvPr id="59" name="Text 48"/>
          <p:cNvSpPr/>
          <p:nvPr/>
        </p:nvSpPr>
        <p:spPr>
          <a:xfrm>
            <a:off x="11073384" y="4253629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0.303</a:t>
            </a:r>
            <a:endParaRPr lang="en-US" sz="1300" dirty="0"/>
          </a:p>
        </p:txBody>
      </p:sp>
      <p:sp>
        <p:nvSpPr>
          <p:cNvPr id="60" name="Shape 49"/>
          <p:cNvSpPr/>
          <p:nvPr/>
        </p:nvSpPr>
        <p:spPr>
          <a:xfrm>
            <a:off x="0" y="6126480"/>
            <a:ext cx="12161520" cy="731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Text 50"/>
          <p:cNvSpPr/>
          <p:nvPr/>
        </p:nvSpPr>
        <p:spPr>
          <a:xfrm>
            <a:off x="182880" y="6263640"/>
            <a:ext cx="377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inductive bias did not improve performance in this setup.</a:t>
            </a:r>
            <a:endParaRPr lang="en-US" sz="1050" dirty="0"/>
          </a:p>
        </p:txBody>
      </p:sp>
      <p:sp>
        <p:nvSpPr>
          <p:cNvPr id="62" name="Shape 51"/>
          <p:cNvSpPr/>
          <p:nvPr/>
        </p:nvSpPr>
        <p:spPr>
          <a:xfrm>
            <a:off x="4053840" y="6217920"/>
            <a:ext cx="9144" cy="54864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3" name="Text 52"/>
          <p:cNvSpPr/>
          <p:nvPr/>
        </p:nvSpPr>
        <p:spPr>
          <a:xfrm>
            <a:off x="4236720" y="6263640"/>
            <a:ext cx="377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financial graphs are likely too noisy and non-stationary.</a:t>
            </a:r>
            <a:endParaRPr lang="en-US" sz="1050" dirty="0"/>
          </a:p>
        </p:txBody>
      </p:sp>
      <p:sp>
        <p:nvSpPr>
          <p:cNvPr id="64" name="Shape 53"/>
          <p:cNvSpPr/>
          <p:nvPr/>
        </p:nvSpPr>
        <p:spPr>
          <a:xfrm>
            <a:off x="8107680" y="6217920"/>
            <a:ext cx="9144" cy="54864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5" name="Text 54"/>
          <p:cNvSpPr/>
          <p:nvPr/>
        </p:nvSpPr>
        <p:spPr>
          <a:xfrm>
            <a:off x="8290560" y="6263640"/>
            <a:ext cx="377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</a:t>
            </a:r>
            <a:r>
              <a:rPr lang="en-US" sz="105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dynamic graphs, learned edges, richer market signals.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</Words>
  <Application>Microsoft Office PowerPoint</Application>
  <PresentationFormat>Widescreen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Francisco Javier Ríos Montes</cp:lastModifiedBy>
  <cp:revision>2</cp:revision>
  <dcterms:created xsi:type="dcterms:W3CDTF">2026-05-07T10:25:54Z</dcterms:created>
  <dcterms:modified xsi:type="dcterms:W3CDTF">2026-05-07T10:29:26Z</dcterms:modified>
</cp:coreProperties>
</file>